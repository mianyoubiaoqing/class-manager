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90000000-0000-4000-8000-000000000001","lessonId":"90000000-0000-4000-8000-000000000002","revision":3,"contentHash":"29e96b477e09d2fed45bf38c791e782fc5d0932b5b923e0ea641607c5f34c0aa","templateVersion":"chinese-lesson-v1","includeAnswers":false,"includeTeacherNotes":false}
逻辑页 opening；环节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90000000-0000-4000-8000-000000000001","lessonId":"90000000-0000-4000-8000-000000000002","revision":3,"contentHash":"29e96b477e09d2fed45bf38c791e782fc5d0932b5b923e0ea641607c5f34c0aa","templateVersion":"chinese-lesson-v1","includeAnswers":false,"includeTeacherNotes":false}
逻辑页 main；环节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90000000-0000-4000-8000-000000000001","lessonId":"90000000-0000-4000-8000-000000000002","revision":3,"contentHash":"29e96b477e09d2fed45bf38c791e782fc5d0932b5b923e0ea641607c5f34c0aa","templateVersion":"chinese-lesson-v1","includeAnswers":false,"includeTeacherNotes":false}
逻辑页 main；环节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90000000-0000-4000-8000-000000000001","lessonId":"90000000-0000-4000-8000-000000000002","revision":3,"contentHash":"29e96b477e09d2fed45bf38c791e782fc5d0932b5b923e0ea641607c5f34c0aa","templateVersion":"chinese-lesson-v1","includeAnswers":false,"includeTeacherNotes":false}
逻辑页 long；环节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90000000-0000-4000-8000-000000000001","lessonId":"90000000-0000-4000-8000-000000000002","revision":3,"contentHash":"29e96b477e09d2fed45bf38c791e782fc5d0932b5b923e0ea641607c5f34c0aa","templateVersion":"chinese-lesson-v1","includeAnswers":false,"includeTeacherNotes":false}
逻辑页 long；环节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90000000-0000-4000-8000-000000000001","lessonId":"90000000-0000-4000-8000-000000000002","revision":3,"contentHash":"29e96b477e09d2fed45bf38c791e782fc5d0932b5b923e0ea641607c5f34c0aa","templateVersion":"chinese-lesson-v1","includeAnswers":false,"includeTeacherNotes":false}
逻辑页 long；环节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90000000-0000-4000-8000-000000000001","lessonId":"90000000-0000-4000-8000-000000000002","revision":3,"contentHash":"29e96b477e09d2fed45bf38c791e782fc5d0932b5b923e0ea641607c5f34c0aa","templateVersion":"chinese-lesson-v1","includeAnswers":false,"includeTeacherNotes":false}
逻辑页 long；环节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90000000-0000-4000-8000-000000000001","lessonId":"90000000-0000-4000-8000-000000000002","revision":3,"contentHash":"29e96b477e09d2fed45bf38c791e782fc5d0932b5b923e0ea641607c5f34c0aa","templateVersion":"chinese-lesson-v1","includeAnswers":false,"includeTeacherNotes":false}
逻辑页 long；环节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90000000-0000-4000-8000-000000000001","lessonId":"90000000-0000-4000-8000-000000000002","revision":3,"contentHash":"29e96b477e09d2fed45bf38c791e782fc5d0932b5b923e0ea641607c5f34c0aa","templateVersion":"chinese-lesson-v1","includeAnswers":false,"includeTeacherNotes":false}
逻辑页 long；环节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90000000-0000-4000-8000-000000000001","lessonId":"90000000-0000-4000-8000-000000000002","revision":3,"contentHash":"29e96b477e09d2fed45bf38c791e782fc5d0932b5b923e0ea641607c5f34c0aa","templateVersion":"chinese-lesson-v1","includeAnswers":false,"includeTeacherNotes":false}
逻辑页 long；环节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90000000-0000-4000-8000-000000000001","lessonId":"90000000-0000-4000-8000-000000000002","revision":3,"contentHash":"29e96b477e09d2fed45bf38c791e782fc5d0932b5b923e0ea641607c5f34c0aa","templateVersion":"chinese-lesson-v1","includeAnswers":false,"includeTeacherNotes":false}
逻辑页 long；环节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90000000-0000-4000-8000-000000000001","lessonId":"90000000-0000-4000-8000-000000000002","revision":3,"contentHash":"29e96b477e09d2fed45bf38c791e782fc5d0932b5b923e0ea641607c5f34c0aa","templateVersion":"chinese-lesson-v1","includeAnswers":false,"includeTeacherNotes":false}
逻辑页 long；环节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90000000-0000-4000-8000-000000000001","lessonId":"90000000-0000-4000-8000-000000000002","revision":3,"contentHash":"29e96b477e09d2fed45bf38c791e782fc5d0932b5b923e0ea641607c5f34c0aa","templateVersion":"chinese-lesson-v1","includeAnswers":false,"includeTeacherNotes":false}
逻辑页 long；环节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90000000-0000-4000-8000-000000000001","lessonId":"90000000-0000-4000-8000-000000000002","revision":3,"contentHash":"29e96b477e09d2fed45bf38c791e782fc5d0932b5b923e0ea641607c5f34c0aa","templateVersion":"chinese-lesson-v1","includeAnswers":false,"includeTeacherNotes":false}
逻辑页 long；环节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90000000-0000-4000-8000-000000000001","lessonId":"90000000-0000-4000-8000-000000000002","revision":3,"contentHash":"29e96b477e09d2fed45bf38c791e782fc5d0932b5b923e0ea641607c5f34c0aa","templateVersion":"chinese-lesson-v1","includeAnswers":false,"includeTeacherNotes":false}
逻辑页 long；环节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90000000-0000-4000-8000-000000000001","lessonId":"90000000-0000-4000-8000-000000000002","revision":3,"contentHash":"29e96b477e09d2fed45bf38c791e782fc5d0932b5b923e0ea641607c5f34c0aa","templateVersion":"chinese-lesson-v1","includeAnswers":false,"includeTeacherNotes":false}
逻辑页 long；环节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90000000-0000-4000-8000-000000000001","lessonId":"90000000-0000-4000-8000-000000000002","revision":3,"contentHash":"29e96b477e09d2fed45bf38c791e782fc5d0932b5b923e0ea641607c5f34c0aa","templateVersion":"chinese-lesson-v1","includeAnswers":false,"includeTeacherNotes":false}
逻辑页 long；环节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Manager 来源：{"versionId":"90000000-0000-4000-8000-000000000001","lessonId":"90000000-0000-4000-8000-000000000002","revision":3,"contentHash":"29e96b477e09d2fed45bf38c791e782fc5d0932b5b923e0ea641607c5f34c0aa","templateVersion":"chinese-lesson-v1","includeAnswers":false,"includeTeacherNotes":false}
逻辑页 long；环节 intro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zh-CN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78408"/>
            <a:ext cx="11018520" cy="456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zh-CN" altLang="en-US" sz="19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认识力的大小、方向和作用点。</a:t>
            </a:r>
            <a:endParaRPr lang="zh-CN" sz="1900" dirty="0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冻结版本 3 · opening · 1</a:t>
            </a:r>
            <a:endParaRPr lang="zh-CN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的三要素与合成观察对比：长标题排版核验力的三要素与合成观察对比：长标题排版核验力的三要素与合成观察对比：长标题排版核验力的三要素与合成观察对比：长标题排版核验力的三要素与合成观察对比：长标题排版核验</a:t>
            </a:r>
            <a:endParaRPr lang="zh-CN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2304288"/>
            <a:ext cx="11018520" cy="456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zh-CN" altLang="en-US" sz="19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力是物体间的相互作用。力的大小、方向和作用点共同决定作用效果。</a:t>
            </a:r>
            <a:endParaRPr lang="zh-CN" sz="1900" dirty="0"/>
          </a:p>
        </p:txBody>
      </p:sp>
      <p:sp>
        <p:nvSpPr>
          <p:cNvPr id="4" name="Text 2"/>
          <p:cNvSpPr/>
          <p:nvPr/>
        </p:nvSpPr>
        <p:spPr>
          <a:xfrm>
            <a:off x="502920" y="2870327"/>
            <a:ext cx="11018520" cy="456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zh-CN" altLang="en-US" sz="19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观察力的作用点</a:t>
            </a:r>
            <a:endParaRPr lang="zh-CN" sz="1900" dirty="0"/>
          </a:p>
        </p:txBody>
      </p:sp>
      <p:sp>
        <p:nvSpPr>
          <p:cNvPr id="5" name="Text 3"/>
          <p:cNvSpPr/>
          <p:nvPr/>
        </p:nvSpPr>
        <p:spPr>
          <a:xfrm>
            <a:off x="502920" y="3436366"/>
            <a:ext cx="11018520" cy="456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zh-CN" altLang="en-US" sz="19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比较两种合成情境</a:t>
            </a:r>
            <a:endParaRPr lang="zh-CN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4002405"/>
            <a:ext cx="11018520" cy="456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buSzPct val="100000"/>
              <a:buChar char="•"/>
            </a:pPr>
            <a:r>
              <a:rPr lang="zh-CN" altLang="en-US" sz="19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用规范语言描述证据</a:t>
            </a:r>
            <a:endParaRPr lang="zh-CN" sz="1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4568444"/>
          <a:ext cx="11018520" cy="1426464"/>
        </p:xfrm>
        <a:graphic>
          <a:graphicData uri="http://schemas.openxmlformats.org/drawingml/2006/table">
            <a:tbl>
              <a:tblPr/>
              <a:tblGrid>
                <a:gridCol w="2754630"/>
                <a:gridCol w="2754630"/>
                <a:gridCol w="2754630"/>
                <a:gridCol w="275463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情境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大小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作用点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推门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N（合成）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向内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门把手附近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推门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 N（合成）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向内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门轴附近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冻结版本 3 · main · 1/2 · 2</a:t>
            </a:r>
            <a:endParaRPr lang="zh-CN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的三要素与合成观察对比：长标题排版核验力的三要素与合成观察对比：长标题排版核验力的三要素与合成观察对比：长标题排版核验力的三要素与合成观察对比：长标题排版核验力的三要素与合成观察对比：长标题排版核验</a:t>
            </a:r>
            <a:endParaRPr lang="zh-CN" sz="2600" dirty="0"/>
          </a:p>
        </p:txBody>
      </p:sp>
      <p:pic>
        <p:nvPicPr>
          <p:cNvPr id="3" name="Image 0" descr="合成图片：此矩形仅用于原生图片移动与替换验收。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304288"/>
            <a:ext cx="6126480" cy="3063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" y="5458968"/>
            <a:ext cx="11018520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zh-CN" altLang="en-US" sz="16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合成图片：此矩形仅用于原生图片移动与替换验收。</a:t>
            </a:r>
            <a:endParaRPr lang="zh-CN" sz="1600" dirty="0"/>
          </a:p>
        </p:txBody>
      </p:sp>
      <p:sp>
        <p:nvSpPr>
          <p:cNvPr id="5" name="Text 2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冻结版本 3 · main · 2/2 · 3</a:t>
            </a:r>
            <a:endParaRPr lang="zh-CN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长段落与多页原生表格</a:t>
            </a:r>
            <a:endParaRPr lang="zh-CN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78408"/>
            <a:ext cx="11018520" cy="4944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zh-CN" altLang="en-US" sz="19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长段落核验：长段落核验：长段落核验：长段落核验：这是合成长文本，用于检查中文段落的自动分页、字形完整和标点换行。English words and 1234567890；内容不得被截断。这是合成长文本，用于检查中文段落的自动分页、字形完整和标点换行。English words and 1234567890；内容不得被截断。这是合成长文本，用于检查中文段落的自动分页、字形完整和标点换行。English words and 1234567890；内容不得被截断。这是合成长文本，用于检查中文段落的自动分页、字形完整和标点换行。English words and 1234567890；内容不得被截断。这是合成长文本，用于检查中文段落的自动分页、字形完整和标点换行。English words and 1234567890；内容不得被截断。这是合成长文本，用于检查中文段落的自动分页、字形完整和标点换行。English words and 1234567890；内容不得被截断。这是合成长文本，用于检查中文段落的自动分页、字形完整和标点换行。English words and 1234567890；内容不得被截断。这是合成长文本，用</a:t>
            </a:r>
            <a:endParaRPr lang="zh-CN" sz="1900" dirty="0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冻结版本 3 · long · 1/15 · 4</a:t>
            </a:r>
            <a:endParaRPr lang="zh-CN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长段落与多页原生表格</a:t>
            </a:r>
            <a:endParaRPr lang="zh-CN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78408"/>
            <a:ext cx="11018520" cy="4944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zh-CN" altLang="en-US" sz="19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于检查中文段落的自动分页、字形完整和标点换行。English words and 1234567890；内容不得被截断。这是合成长文本，用于检查中文段落的自动分页、字形完整和标点换行。English words and 1234567890；内容不得被截断。这是合成长文本，用于检查中文段落的自动分页、字形完整和标点换行。English words and 1234567890；内容不得被截断。这是合成长文本，用于检查中文段落的自动分页、字形完整和标点换行。English words and 1234567890；内容不得被截断。这是合成长文本，用于检查中文段落的自动分页、字形完整和标点换行。English words and 1234567890；内容不得被截断。这是合成长文本，用于检查中文段落的自动分页、字形完整和标点换行。English words and 1234567890；内容不得被截断。这是合成长文本，用于检查中文段落的自动分页、字形完整和标点换行。English words and 1234567890；内容不得被截断。这是合成长文本，用于检查中文段落的自动分页、字形完整和标点换行。English word</a:t>
            </a:r>
            <a:endParaRPr lang="zh-CN" sz="1900" dirty="0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冻结版本 3 · long · 2/15 · 5</a:t>
            </a:r>
            <a:endParaRPr lang="zh-CN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长段落与多页原生表格</a:t>
            </a:r>
            <a:endParaRPr lang="zh-CN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78408"/>
            <a:ext cx="11018520" cy="4944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zh-CN" altLang="en-US" sz="19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and 1234567890；内容不得被截断。这是合成长文本，用于检查中文段落的自动分页、字形完整和标点换行。English words and 1234567890；内容不得被截断。这是合成长文本，用于检查中文段落的自动分页、字形完整和标点换行。English words and 1234567890；内容不得被截断。这是合成长文本，用于检查中文段落的自动分页、字形完整和标点换行。English words and 1234567890；内容不得被截断。这是合成长文本，用于检查中文段落的自动分页、字形完整和标点换行。English words and 1234567890；内容不得被截断。这是合成长文本，用于检查中文段落的自动分页、字形完整和标点换行。English words and 1234567890；内容不得被截断。这是合成长文本，用于检查中文段落的自动分页、字形完整和标点换行。English words and 1234567890；内容不得被截断。这是合成长文本，用于检查中文段落的自动分页、字形完整和标点换行。English words and 1234567890；内容不得被截断。这是合成长文本，用于检</a:t>
            </a:r>
            <a:endParaRPr lang="zh-CN" sz="1900" dirty="0"/>
          </a:p>
        </p:txBody>
      </p:sp>
      <p:sp>
        <p:nvSpPr>
          <p:cNvPr id="4" name="Text 2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冻结版本 3 · long · 3/15 · 6</a:t>
            </a:r>
            <a:endParaRPr lang="zh-CN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长段落与多页原生表格</a:t>
            </a:r>
            <a:endParaRPr lang="zh-CN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78408"/>
            <a:ext cx="11018520" cy="1952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zh-CN" altLang="en-US" sz="1900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查中文段落的自动分页、字形完整和标点换行。English words and 1234567890；内容不得被截断。这是合成长文本，用于检查中文段落的自动分页、字形完整和标点换行。English words and 1234567890；内容不得被截断。这是合成长文本，用于检查中文段落的自动分页、字形完整和标点换行。English words and 1234567890；内容不得被截断。</a:t>
            </a:r>
            <a:endParaRPr lang="zh-CN" sz="1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040507"/>
          <a:ext cx="11018520" cy="3127248"/>
        </p:xfrm>
        <a:graphic>
          <a:graphicData uri="http://schemas.openxmlformats.org/drawingml/2006/table">
            <a:tbl>
              <a:tblPr/>
              <a:tblGrid>
                <a:gridCol w="2754630"/>
                <a:gridCol w="2754630"/>
                <a:gridCol w="2754630"/>
                <a:gridCol w="275463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比较项目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观察记录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证据与解释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课堂讨论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记录 1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物体相互作用方向的合成观察记录。物体相互作用方向的合成观察记录。物体相互作用方向的合成观察记录。物体相互作用方向的合成观察记录。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以记录描述大小、方向和作用点，明确数据为合成例子。以记录描述大小、方向和作用点，明确数据为合成例子。以记录描述大小、方向和作用点，明确数据为合成例子。以记录描述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先观察，后比较，最后解释。先观察，后比较，最后解释。先观察，后比较，最后解释。先观察，后比较，最后解释。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冻结版本 3 · long · 4/15 · 7</a:t>
            </a:r>
            <a:endParaRPr lang="zh-CN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长段落与多页原生表格</a:t>
            </a:r>
            <a:endParaRPr lang="zh-CN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78408"/>
          <a:ext cx="11018520" cy="5010912"/>
        </p:xfrm>
        <a:graphic>
          <a:graphicData uri="http://schemas.openxmlformats.org/drawingml/2006/table">
            <a:tbl>
              <a:tblPr/>
              <a:tblGrid>
                <a:gridCol w="2754630"/>
                <a:gridCol w="2754630"/>
                <a:gridCol w="2754630"/>
                <a:gridCol w="275463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比较项目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观察记录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证据与解释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课堂讨论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大小、方向和作用点，明确数据为合成例子。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35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记录 2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物体相互作用方向的合成观察记录。物体相互作用方向的合成观察记录。物体相互作用方向的合成观察记录。物体相互作用方向的合成观察记录。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记录描述大小、方向和作用点，明确数据为合成例子。以记录描述大小、方向和作用点，明确数据为合成例子。以记录描述大小、方向和作用点，明确数据为合成例子。以记录描述大小、方向和作用点，明确数据为合成例子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先观察，后比较，最后解释。先观察，后比较，最后解释。先观察，后比较，最后解释。先观察，后比较，最后解释。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记录 3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物体相互作用方向的合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以记录描述大小、方向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先观察，后比较，最后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冻结版本 3 · long · 5/15 · 8</a:t>
            </a:r>
            <a:endParaRPr lang="zh-CN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长段落与多页原生表格</a:t>
            </a:r>
            <a:endParaRPr lang="zh-CN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78408"/>
          <a:ext cx="11018520" cy="5157216"/>
        </p:xfrm>
        <a:graphic>
          <a:graphicData uri="http://schemas.openxmlformats.org/drawingml/2006/table">
            <a:tbl>
              <a:tblPr/>
              <a:tblGrid>
                <a:gridCol w="2754630"/>
                <a:gridCol w="2754630"/>
                <a:gridCol w="2754630"/>
                <a:gridCol w="275463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比较项目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观察记录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证据与解释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课堂讨论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62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成观察记录。物体相互作用方向的合成观察记录。物体相互作用方向的合成观察记录。物体相互作用方向的合成观察记录。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和作用点，明确数据为合成例子。以记录描述大小、方向和作用点，明确数据为合成例子。以记录描述大小、方向和作用点，明确数据为合成例子。以记录描述大小、方向和作用点，明确数据为合成例子。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解释。先观察，后比较，最后解释。先观察，后比较，最后解释。先观察，后比较，最后解释。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9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记录 4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物体相互作用方向的合成观察记录。物体相互作用方向的合成观察记录。物体相互作用方向的合成观察记录。物体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以记录描述大小、方向和作用点，明确数据为合成例子。以记录描述大小、方向和作用点，明确数据为合成例子。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先观察，后比较，最后解释。先观察，后比较，最后解释。先观察，后比较，最后解释。先观察，后比较，最后解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冻结版本 3 · long · 6/15 · 9</a:t>
            </a:r>
            <a:endParaRPr lang="zh-CN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长段落与多页原生表格</a:t>
            </a:r>
            <a:endParaRPr lang="zh-CN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78408"/>
          <a:ext cx="11018520" cy="5157216"/>
        </p:xfrm>
        <a:graphic>
          <a:graphicData uri="http://schemas.openxmlformats.org/drawingml/2006/table">
            <a:tbl>
              <a:tblPr/>
              <a:tblGrid>
                <a:gridCol w="2754630"/>
                <a:gridCol w="2754630"/>
                <a:gridCol w="2754630"/>
                <a:gridCol w="275463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比较项目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观察记录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证据与解释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课堂讨论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9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相互作用方向的合成观察记录。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以记录描述大小、方向和作用点，明确数据为合成例子。以记录描述大小、方向和作用点，明确数据为合成例子。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释。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62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记录 5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物体相互作用方向的合成观察记录。物体相互作用方向的合成观察记录。物体相互作用方向的合成观察记录。物体相互作用方向的合成观察记录。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以记录描述大小、方向和作用点，明确数据为合成例子。以记录描述大小、方向和作用点，明确数据为合成例子。以记录描述大小、方向和作用点，明确数据为合成例子。以记录描述大小、方向和作用点，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先观察，后比较，最后解释。先观察，后比较，最后解释。先观察，后比较，最后解释。先观察，后比较，最后解释。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冻结版本 3 · long · 7/15 · 10</a:t>
            </a:r>
            <a:endParaRPr lang="zh-CN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长段落与多页原生表格</a:t>
            </a:r>
            <a:endParaRPr lang="zh-CN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78408"/>
          <a:ext cx="11018520" cy="5157216"/>
        </p:xfrm>
        <a:graphic>
          <a:graphicData uri="http://schemas.openxmlformats.org/drawingml/2006/table">
            <a:tbl>
              <a:tblPr/>
              <a:tblGrid>
                <a:gridCol w="2754630"/>
                <a:gridCol w="2754630"/>
                <a:gridCol w="2754630"/>
                <a:gridCol w="275463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比较项目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观察记录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证据与解释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课堂讨论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明确数据为合成例子。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记录 6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体相互作用方向的合成观察记录。物体相互作用方向的合成观察记录。物体相互作用方向的合成观察记录。物体相互作用方向的合成观察记录。物体相互作用方向的合成观察记录。物体相互作用方向的合成观察记录。物体相互作用方向的合成观察记录。物体相互作用方向的合成观察记录。物体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记录描述大小、方向和作用点，明确数据为合成例子。以记录描述大小、方向和作用点，明确数据为合成例子。以记录描述大小、方向和作用点，明确数据为合成例子。以记录描述大小、方向和作用点，明确数据为合成例子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先观察，后比较，最后解释。先观察，后比较，最后解释。先观察，后比较，最后解释。先观察，后比较，最后解释。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冻结版本 3 · long · 8/15 · 11</a:t>
            </a:r>
            <a:endParaRPr lang="zh-CN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长段落与多页原生表格</a:t>
            </a:r>
            <a:endParaRPr lang="zh-CN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78408"/>
          <a:ext cx="11018520" cy="4992624"/>
        </p:xfrm>
        <a:graphic>
          <a:graphicData uri="http://schemas.openxmlformats.org/drawingml/2006/table">
            <a:tbl>
              <a:tblPr/>
              <a:tblGrid>
                <a:gridCol w="2754630"/>
                <a:gridCol w="2754630"/>
                <a:gridCol w="2754630"/>
                <a:gridCol w="275463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比较项目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观察记录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证据与解释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课堂讨论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171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互作用方向的合成观察记录。物体相互作用方向的合成观察记录。物体相互作用方向的合成观察记录。物体相互作用方向的合成观察记录。物体相互作用方向的合成观察记录。物体相互作用方向的合成观察记录。物体相互作用方向的合成观察记录。物体相互作用方向的合成观察记录。物体相互作用方向的合成观察记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冻结版本 3 · long · 9/15 · 12</a:t>
            </a:r>
            <a:endParaRPr lang="zh-CN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长段落与多页原生表格</a:t>
            </a:r>
            <a:endParaRPr lang="zh-CN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78408"/>
          <a:ext cx="11018520" cy="5157216"/>
        </p:xfrm>
        <a:graphic>
          <a:graphicData uri="http://schemas.openxmlformats.org/drawingml/2006/table">
            <a:tbl>
              <a:tblPr/>
              <a:tblGrid>
                <a:gridCol w="2754630"/>
                <a:gridCol w="2754630"/>
                <a:gridCol w="2754630"/>
                <a:gridCol w="275463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比较项目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观察记录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证据与解释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课堂讨论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录。物体相互作用方向的合成观察记录。物体相互作用方向的合成观察记录。物体相互作用方向的合成观察记录。物体相互作用方向的合成观察记录。物体相互作用方向的合成观察记录。物体相互作用方向的合成观察记录。物体相互作用方向的合成观察记录。物体相互作用方向的合成观察记录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记录 7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物体相互作用方向的合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以记录描述大小、方向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先观察，后比较，最后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冻结版本 3 · long · 10/15 · 13</a:t>
            </a:r>
            <a:endParaRPr lang="zh-CN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长段落与多页原生表格</a:t>
            </a:r>
            <a:endParaRPr lang="zh-CN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78408"/>
          <a:ext cx="11018520" cy="5157216"/>
        </p:xfrm>
        <a:graphic>
          <a:graphicData uri="http://schemas.openxmlformats.org/drawingml/2006/table">
            <a:tbl>
              <a:tblPr/>
              <a:tblGrid>
                <a:gridCol w="2754630"/>
                <a:gridCol w="2754630"/>
                <a:gridCol w="2754630"/>
                <a:gridCol w="275463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比较项目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观察记录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证据与解释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课堂讨论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62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成观察记录。物体相互作用方向的合成观察记录。物体相互作用方向的合成观察记录。物体相互作用方向的合成观察记录。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和作用点，明确数据为合成例子。以记录描述大小、方向和作用点，明确数据为合成例子。以记录描述大小、方向和作用点，明确数据为合成例子。以记录描述大小、方向和作用点，明确数据为合成例子。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解释。先观察，后比较，最后解释。先观察，后比较，最后解释。先观察，后比较，最后解释。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9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记录 8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物体相互作用方向的合成观察记录。物体相互作用方向的合成观察记录。物体相互作用方向的合成观察记录。物体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以记录描述大小、方向和作用点，明确数据为合成例子。以记录描述大小、方向和作用点，明确数据为合成例子。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先观察，后比较，最后解释。先观察，后比较，最后解释。先观察，后比较，最后解释。先观察，后比较，最后解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冻结版本 3 · long · 11/15 · 14</a:t>
            </a:r>
            <a:endParaRPr lang="zh-CN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长段落与多页原生表格</a:t>
            </a:r>
            <a:endParaRPr lang="zh-CN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78408"/>
          <a:ext cx="11018520" cy="5157216"/>
        </p:xfrm>
        <a:graphic>
          <a:graphicData uri="http://schemas.openxmlformats.org/drawingml/2006/table">
            <a:tbl>
              <a:tblPr/>
              <a:tblGrid>
                <a:gridCol w="2754630"/>
                <a:gridCol w="2754630"/>
                <a:gridCol w="2754630"/>
                <a:gridCol w="275463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比较项目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观察记录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证据与解释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课堂讨论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19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相互作用方向的合成观察记录。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以记录描述大小、方向和作用点，明确数据为合成例子。以记录描述大小、方向和作用点，明确数据为合成例子。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释。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626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记录 9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物体相互作用方向的合成观察记录。物体相互作用方向的合成观察记录。物体相互作用方向的合成观察记录。物体相互作用方向的合成观察记录。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以记录描述大小、方向和作用点，明确数据为合成例子。以记录描述大小、方向和作用点，明确数据为合成例子。以记录描述大小、方向和作用点，明确数据为合成例子。以记录描述大小、方向和作用点，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先观察，后比较，最后解释。先观察，后比较，最后解释。先观察，后比较，最后解释。先观察，后比较，最后解释。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冻结版本 3 · long · 12/15 · 15</a:t>
            </a:r>
            <a:endParaRPr lang="zh-CN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长段落与多页原生表格</a:t>
            </a:r>
            <a:endParaRPr lang="zh-CN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78408"/>
          <a:ext cx="11018520" cy="5010912"/>
        </p:xfrm>
        <a:graphic>
          <a:graphicData uri="http://schemas.openxmlformats.org/drawingml/2006/table">
            <a:tbl>
              <a:tblPr/>
              <a:tblGrid>
                <a:gridCol w="2754630"/>
                <a:gridCol w="2754630"/>
                <a:gridCol w="2754630"/>
                <a:gridCol w="275463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比较项目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观察记录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证据与解释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课堂讨论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明确数据为合成例子。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735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记录 10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物体相互作用方向的合成观察记录。物体相互作用方向的合成观察记录。物体相互作用方向的合成观察记录。物体相互作用方向的合成观察记录。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记录描述大小、方向和作用点，明确数据为合成例子。以记录描述大小、方向和作用点，明确数据为合成例子。以记录描述大小、方向和作用点，明确数据为合成例子。以记录描述大小、方向和作用点，明确数据为合成例子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先观察，后比较，最后解释。先观察，后比较，最后解释。先观察，后比较，最后解释。先观察，后比较，最后解释。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记录 11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物体相互作用方向的合成观察记录。物体相互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以记录描述大小、方向和作用点，明确数据为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先观察，后比较，最后解释。先观察，后比较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冻结版本 3 · long · 13/15 · 16</a:t>
            </a:r>
            <a:endParaRPr lang="zh-CN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长段落与多页原生表格</a:t>
            </a:r>
            <a:endParaRPr lang="zh-CN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78408"/>
          <a:ext cx="11018520" cy="5157216"/>
        </p:xfrm>
        <a:graphic>
          <a:graphicData uri="http://schemas.openxmlformats.org/drawingml/2006/table">
            <a:tbl>
              <a:tblPr/>
              <a:tblGrid>
                <a:gridCol w="2754630"/>
                <a:gridCol w="2754630"/>
                <a:gridCol w="2754630"/>
                <a:gridCol w="275463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比较项目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观察记录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证据与解释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课堂讨论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51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作用方向的合成观察记录。物体相互作用方向的合成观察记录。物体相互作用方向的合成观察记录。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合成例子。以记录描述大小、方向和作用点，明确数据为合成例子。以记录描述大小、方向和作用点，明确数据为合成例子。以记录描述大小、方向和作用点，明确数据为合成例子。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，最后解释。先观察，后比较，最后解释。先观察，后比较，最后解释。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299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记录 12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物体相互作用方向的合成观察记录。物体相互作用方向的合成观察记录。物体相互作用方向的合成观察记录。物体相互作用方向的合成观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以记录描述大小、方向和作用点，明确数据为合成例子。以记录描述大小、方向和作用点，明确数据为合成例子。以记录描述大小、方向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先观察，后比较，最后解释。先观察，后比较，最后解释。先观察，后比较，最后解释。先观察，后比较，最后解释。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冻结版本 3 · long · 14/15 · 17</a:t>
            </a:r>
            <a:endParaRPr lang="zh-CN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018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CN" altLang="en-US" sz="2600" b="1" dirty="0">
                <a:solidFill>
                  <a:srgbClr val="1721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长段落与多页原生表格</a:t>
            </a:r>
            <a:endParaRPr lang="zh-CN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78408"/>
          <a:ext cx="11018520" cy="1883664"/>
        </p:xfrm>
        <a:graphic>
          <a:graphicData uri="http://schemas.openxmlformats.org/drawingml/2006/table">
            <a:tbl>
              <a:tblPr/>
              <a:tblGrid>
                <a:gridCol w="2754630"/>
                <a:gridCol w="2754630"/>
                <a:gridCol w="2754630"/>
                <a:gridCol w="275463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比较项目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观察记录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证据与解释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课堂讨论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081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察记录。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1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和作用点，明确数据为合成例子。以记录描述大小、方向和作用点，明确数据为合成例子。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63500" marR="63500" marT="38100" marB="38100" anchor="t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02920" y="6446520"/>
            <a:ext cx="11018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zh-CN" altLang="en-US" sz="1000" dirty="0">
                <a:solidFill>
                  <a:srgbClr val="626B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冻结版本 3 · long · 15/15 · 18</a:t>
            </a:r>
            <a:endParaRPr lang="zh-CN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Class Manager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物理合成备课：力的三要素、作用效果与课堂观察记录的完整表达物理合成备课：力的三要素、作用效果与课堂观察记录的完整表达物理合成备课：力的三要素、作用效果与课堂观察记录的完整表达物理合成备课：力的三要素、作用效果与课堂观察记录的完整表达</dc:title>
  <dc:subject>{"versionId":"90000000-0000-4000-8000-000000000001","lessonId":"90000000-0000-4000-8000-000000000002","revision":3,"contentHash":"29e96b477e09d2fed45bf38c791e782fc5d0932b5b923e0ea641607c5f34c0aa","templateVersion":"chinese-lesson-v1","includeAnswers":false,"includeTeacherNotes":false}</dc:subject>
  <dc:creator>Class Manager</dc:creator>
  <cp:lastModifiedBy>Class Manager</cp:lastModifiedBy>
  <cp:revision>1</cp:revision>
  <dcterms:created xsi:type="dcterms:W3CDTF">2026-10-01T00:23:24Z</dcterms:created>
  <dcterms:modified xsi:type="dcterms:W3CDTF">2026-10-01T00:23:24Z</dcterms:modified>
</cp:coreProperties>
</file>